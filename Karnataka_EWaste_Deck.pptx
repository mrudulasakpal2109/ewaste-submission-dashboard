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3A"/>
                </a:solidFill>
                <a:latin typeface="Calibri"/>
              </a:rPr>
              <a:t>India e-waste generated (lakh tonnes)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India</c:v>
                </c:pt>
              </c:strCache>
            </c:strRef>
          </c:tx>
          <c:spPr>
            <a:solidFill>
              <a:srgbClr val="2E8B6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2017-18</c:v>
                  </c:pt>
                  <c:pt idx="1">
                    <c:v>2018-19</c:v>
                  </c:pt>
                  <c:pt idx="2">
                    <c:v>2019-20</c:v>
                  </c:pt>
                  <c:pt idx="3">
                    <c:v>2021-22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7.08</c:v>
                </c:pt>
                <c:pt idx="1">
                  <c:v>7.71</c:v>
                </c:pt>
                <c:pt idx="2">
                  <c:v>10.15</c:v>
                </c:pt>
                <c:pt idx="3">
                  <c:v>16.01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3A"/>
                </a:solidFill>
                <a:latin typeface="Calibri"/>
              </a:rPr>
              <a:t>Karnataka FY 2025-26 (million kg)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</c:v>
                </c:pt>
              </c:strCache>
            </c:strRef>
          </c:tx>
          <c:spPr>
            <a:solidFill>
              <a:srgbClr val="F2A3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Generated</c:v>
                  </c:pt>
                  <c:pt idx="1">
                    <c:v>Collected</c:v>
                  </c:pt>
                  <c:pt idx="2">
                    <c:v>Formally processed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88.5</c:v>
                </c:pt>
                <c:pt idx="1">
                  <c:v>54.9</c:v>
                </c:pt>
                <c:pt idx="2">
                  <c:v>34.1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3C3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3C3A"/>
                </a:solidFill>
                <a:latin typeface="Calibri"/>
              </a:rPr>
              <a:t>Est. e-waste generated (million kg/yr)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</c:v>
                </c:pt>
              </c:strCache>
            </c:strRef>
          </c:tx>
          <c:spPr>
            <a:solidFill>
              <a:srgbClr val="2E8B6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D2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Kalaburagi</c:v>
                  </c:pt>
                  <c:pt idx="1">
                    <c:v>Tumakuru</c:v>
                  </c:pt>
                  <c:pt idx="2">
                    <c:v>Dakshina Kannada</c:v>
                  </c:pt>
                  <c:pt idx="3">
                    <c:v>Dharwad</c:v>
                  </c:pt>
                  <c:pt idx="4">
                    <c:v>Belagavi</c:v>
                  </c:pt>
                  <c:pt idx="5">
                    <c:v>Mysuru</c:v>
                  </c:pt>
                  <c:pt idx="6">
                    <c:v>Bengaluru Urban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3.12</c:v>
                </c:pt>
                <c:pt idx="1">
                  <c:v>3.3</c:v>
                </c:pt>
                <c:pt idx="2">
                  <c:v>3.49</c:v>
                </c:pt>
                <c:pt idx="3">
                  <c:v>3.51</c:v>
                </c:pt>
                <c:pt idx="4">
                  <c:v>5.08</c:v>
                </c:pt>
                <c:pt idx="5">
                  <c:v>5.76</c:v>
                </c:pt>
                <c:pt idx="6">
                  <c:v>48.81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2D2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5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Karnataka scored 61.4/100 in the Needs Improvement band (45-64), near the Good threshold (65+).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Hazard vs opportunity: capacity exists, the gap is collection and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National figures: CPCB via MoEFCC (2017-18 to 2019-20) and 2021-22 per MoEFCC data reported by the Tribune. Karnataka figures are illustrative: 88.5M kg x 62.1% = 54.9M kg; x 38.5% = 34.1M 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District-level collection rates are not in the source report; the pattern is qualitative. Report lists seven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Qualitative regional assessment taken from the narrative of the report. Generation sums from the report district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Actions follow the report recommendations.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KARNATAKA STATE SCORECARD, FY 2025-26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E-Waste in Karnataka: The Metro-Concentration Paradox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generation, collection gaps, and the road to formalization across 31 districts.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126480" y="914400"/>
            <a:ext cx="2468880" cy="2743200"/>
          </a:xfrm>
          <a:prstGeom prst="roundRect">
            <a:avLst>
              <a:gd name="adj" fmla="val 2963"/>
            </a:avLst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0" y="1188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61.4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100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IMPROVEMENT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 Band: 45-64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Two-Sided Picture: The Hazard, and the Opportunity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risks, collection gaps, recycling capacity, and employment opportunities.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Karnataka E-Waste Scorecard Report, FY 2025-26 (illustrative data, to be replaced with verified KSPCB/CPCB figures)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Hazard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38%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generated e-waste (33.6M kg) is never collected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24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92024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authorized recyclers; the rest leaks to informal channels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467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467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~2,400 informal workers registered or trained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9684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Pb, Cd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968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safe limits at monitored hotspots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463040"/>
            <a:ext cx="3977640" cy="3154680"/>
          </a:xfrm>
          <a:prstGeom prst="roundRect">
            <a:avLst>
              <a:gd name="adj" fmla="val 2319"/>
            </a:avLst>
          </a:prstGeom>
          <a:solidFill>
            <a:srgbClr val="D8EBE3"/>
          </a:solidFill>
          <a:ln w="12700">
            <a:solidFill>
              <a:srgbClr val="D8EB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600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Opportunity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103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2103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recycling units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272491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1.99L MT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7249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processing capacity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346704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334670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producers fully EPR compliant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937760" y="3968496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2,400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3968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workers who can move into formal jobs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vs. Capture: The Karnataka Tsunami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e-waste growth compared with the state's formal collection and unaccounted waste.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Karnataka E-Waste Scorecard Report, FY 2025-26 (illustrative data, to be replaced with verified KSPCB/CPCB figures)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463040"/>
            <a:ext cx="4023360" cy="3154680"/>
          </a:xfrm>
          <a:prstGeom prst="roundRect">
            <a:avLst>
              <a:gd name="adj" fmla="val 231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548640" y="15544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Chart 1" descr=""/>
          <p:cNvGraphicFramePr/>
          <p:nvPr/>
        </p:nvGraphicFramePr>
        <p:xfrm>
          <a:off x="4754880" y="1554480"/>
          <a:ext cx="38404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40080" y="43159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India: generation more than doubled in four years (CPCB).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484632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33.6M kg uncollected; only 34.1M kg formally treated.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Gap Sits: The District 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District-wise e-waste generation and collection pattern, with regional disparities.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Karnataka E-Waste Scorecard Report, FY 2025-26 (illustrative data, to be replaced with verified KSPCB/CPCB figures)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0" cy="3154680"/>
          </a:xfrm>
          <a:prstGeom prst="roundRect">
            <a:avLst>
              <a:gd name="adj" fmla="val 2319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548640" y="155448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71500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D8EBE3"/>
          </a:solidFill>
          <a:ln w="12700">
            <a:solidFill>
              <a:srgbClr val="D8EB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1554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55%+ of state generation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852160" y="18470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Bengaluru Urban alone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15000" y="25603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D8EBE3"/>
          </a:solidFill>
          <a:ln w="12700">
            <a:solidFill>
              <a:srgbClr val="D8EB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3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is strong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52160" y="2944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Bengaluru and Mysuru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15000" y="36576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is weakest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852160" y="4041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Yadgir, Raichur, Uttara Kannada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Metro vs. Interior: Comparison Matrix, Collection Performance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grouped from the report's seven listed districts, plus its regional findings.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Karnataka E-Waste Scorecard Report, FY 2025-26 (illustrative data, to be replaced with verified KSPCB/CPCB figures)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103120"/>
                <a:gridCol w="1280160"/>
                <a:gridCol w="192024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Districts sampled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Generation (M kg)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Collection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Recycling capacity and centres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2B"/>
                          </a:solidFill>
                        </a:rPr>
                        <a:t>Bengaluru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Bengaluru Urban, Tumakuru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52.1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6A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Concentrated here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2B"/>
                          </a:solidFill>
                        </a:rPr>
                        <a:t>Old Mysuru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Mysuru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5.8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8B6A"/>
                          </a:solidFill>
                        </a:rPr>
                        <a:t>Strong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Not reported by district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2B"/>
                          </a:solidFill>
                        </a:rPr>
                        <a:t>Coastal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Dakshina Kannada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3.5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Weaker (Uttara Kannada lowest)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2B"/>
                          </a:solidFill>
                        </a:rPr>
                        <a:t>North Karnataka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Belagavi, Dharwad, Kalaburagi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11.7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8553D"/>
                          </a:solidFill>
                        </a:rPr>
                        <a:t>Weaker (Yadgir, Raichur lowest)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2B"/>
                          </a:solidFill>
                        </a:rPr>
                        <a:t>Limited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5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and capacity columns are qualitative: the report gives no regional rates. Verified district data is needed to quantify them.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Next: Roadmap to a District-Balanced Solution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for formalization, infrastructure, regulatory compliance, and innovation.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Karnataka E-Waste Scorecard Report, FY 2025-26 (illustrative data, to be replaced with verified KSPCB/CPCB figures)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Formalization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9748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Target-driven programs at Nayandahalli, Goraguntepalya, Hubballi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training, registration, PPE; remediate Pb/Cd hotspots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42032" y="146304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D8EBE3"/>
          </a:solidFill>
          <a:ln w="12700">
            <a:solidFill>
              <a:srgbClr val="D8EB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645920"/>
            <a:ext cx="502920" cy="5029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24912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724912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269748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KSPCB-KEONICS regional centers in Yadgir, Raichur, Kalaburagi, Uttara Kannada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38.5% processing gap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26864" y="146304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F3F7F5"/>
          </a:solidFill>
          <a:ln w="12700">
            <a:solidFill>
              <a:srgbClr val="F3F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645920"/>
            <a:ext cx="502920" cy="5029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9744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809744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809744" y="269748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pending show-cause and penalty cases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quarterly state EPR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711696" y="1463040"/>
            <a:ext cx="1920240" cy="3154680"/>
          </a:xfrm>
          <a:prstGeom prst="roundRect">
            <a:avLst>
              <a:gd name="adj" fmla="val 3810"/>
            </a:avLst>
          </a:prstGeom>
          <a:solidFill>
            <a:srgbClr val="D8EBE3"/>
          </a:solidFill>
          <a:ln w="12700">
            <a:solidFill>
              <a:srgbClr val="D8EB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645920"/>
            <a:ext cx="502920" cy="502920"/>
          </a:xfrm>
          <a:prstGeom prst="ellipse">
            <a:avLst/>
          </a:prstGeom>
          <a:solidFill>
            <a:srgbClr val="2E8B6A"/>
          </a:solidFill>
          <a:ln w="12700">
            <a:solidFill>
              <a:srgbClr val="2E8B6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94576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94576" y="22860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6894576" y="2697480"/>
            <a:ext cx="1600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tracking on CPCB EPR portal and KEONICS Eco eMarket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drives with Zilla Panchayats and colleges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2026-10-27T12:00:15Z</dcterms:created>
  <dcterms:modified xsi:type="dcterms:W3CDTF">2026-10-27T12:00:15Z</dcterms:modified>
</cp:coreProperties>
</file>